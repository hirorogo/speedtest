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1" r:id="rId3"/>
    <p:sldId id="257" r:id="rId4"/>
    <p:sldId id="259" r:id="rId5"/>
    <p:sldId id="266" r:id="rId6"/>
    <p:sldId id="267" r:id="rId7"/>
    <p:sldId id="268" r:id="rId8"/>
    <p:sldId id="269" r:id="rId9"/>
    <p:sldId id="270" r:id="rId10"/>
    <p:sldId id="271" r:id="rId11"/>
    <p:sldId id="262" r:id="rId12"/>
    <p:sldId id="263" r:id="rId13"/>
    <p:sldId id="265" r:id="rId14"/>
    <p:sldId id="26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0" d="100"/>
          <a:sy n="50" d="100"/>
        </p:scale>
        <p:origin x="3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8/1/2025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8/1/2025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zenn.dev/kagan/articles/4f96a97aadfcb8" TargetMode="External"/><Relationship Id="rId2" Type="http://schemas.openxmlformats.org/officeDocument/2006/relationships/hyperlink" Target="https://ics.media/entry/15649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s://webdesignday.jp/programing/object-fit/#google_vignette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zenn.dev/kagan/articles/4f96a97aadfcb8" TargetMode="External"/><Relationship Id="rId2" Type="http://schemas.openxmlformats.org/officeDocument/2006/relationships/hyperlink" Target="https://kinsta.com/jp/blog/tailwind-cs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lay.tailwindcss.com/" TargetMode="External"/><Relationship Id="rId4" Type="http://schemas.openxmlformats.org/officeDocument/2006/relationships/hyperlink" Target="https://zenn.dev/yohei_watanabe/books/c0b573713734b9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web-camp.io/magazine/archives/94984" TargetMode="External"/><Relationship Id="rId7" Type="http://schemas.openxmlformats.org/officeDocument/2006/relationships/hyperlink" Target="https://web-design.kyoto.jp/sample_slide.html" TargetMode="External"/><Relationship Id="rId2" Type="http://schemas.openxmlformats.org/officeDocument/2006/relationships/hyperlink" Target="https://dominantmotion.com/design/html-css/image-text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ote.com/shizuoka_kufu/n/n4158f5065b77" TargetMode="External"/><Relationship Id="rId5" Type="http://schemas.openxmlformats.org/officeDocument/2006/relationships/hyperlink" Target="https://saruwakakun.com/html-css/basic/relative-absolute-fixed" TargetMode="External"/><Relationship Id="rId4" Type="http://schemas.openxmlformats.org/officeDocument/2006/relationships/hyperlink" Target="https://zero-plus.io/media/css-position-absolute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ebcreatorbox.com/tech/css-grid-basic-layout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lobal-web-design.com/1093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pg.brain-studio.com/00/a-css-table-responsive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15B5BF-2358-4D98-8101-5DCE60EE06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6444" y="2404534"/>
            <a:ext cx="8797770" cy="1646302"/>
          </a:xfrm>
        </p:spPr>
        <p:txBody>
          <a:bodyPr/>
          <a:lstStyle/>
          <a:p>
            <a:r>
              <a:rPr kumimoji="1" lang="en-US" altLang="ja-JP" dirty="0"/>
              <a:t>IT</a:t>
            </a:r>
            <a:r>
              <a:rPr kumimoji="1" lang="ja-JP" altLang="en-US" dirty="0"/>
              <a:t>マスター ウェブデザイン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38F378E-8B49-4160-BB65-E45CA5EA69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246316" cy="1096899"/>
          </a:xfrm>
        </p:spPr>
        <p:txBody>
          <a:bodyPr>
            <a:normAutofit lnSpcReduction="10000"/>
          </a:bodyPr>
          <a:lstStyle/>
          <a:p>
            <a:r>
              <a:rPr kumimoji="1" lang="ja-JP" altLang="en-US" dirty="0"/>
              <a:t>愛知県立総合工科高等学校</a:t>
            </a:r>
            <a:endParaRPr kumimoji="1" lang="en-US" altLang="ja-JP" dirty="0"/>
          </a:p>
          <a:p>
            <a:r>
              <a:rPr kumimoji="1" lang="en-US" altLang="ja-JP"/>
              <a:t>2025/8/1</a:t>
            </a:r>
            <a:endParaRPr kumimoji="1" lang="en-US" altLang="ja-JP" dirty="0"/>
          </a:p>
          <a:p>
            <a:r>
              <a:rPr lang="ja-JP" altLang="en-US" dirty="0"/>
              <a:t>講師：笹岑 剛士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43756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71786F5D-C130-4C0D-A6CD-2DAC2DB80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ja-JP" altLang="en-US" dirty="0"/>
              <a:t>今日の学習内容：</a:t>
            </a:r>
            <a:r>
              <a:rPr lang="en-US" altLang="ja-JP" dirty="0"/>
              <a:t>HTML</a:t>
            </a:r>
            <a:r>
              <a:rPr lang="ja-JP" altLang="en-US" dirty="0"/>
              <a:t>と</a:t>
            </a:r>
            <a:r>
              <a:rPr lang="en-US" altLang="ja-JP" dirty="0"/>
              <a:t>CSS</a:t>
            </a:r>
            <a:endParaRPr lang="ja-JP" altLang="en-US" dirty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66BB59AC-B1E3-4861-A2CE-140A65E70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1422061"/>
            <a:ext cx="8596668" cy="4826339"/>
          </a:xfrm>
        </p:spPr>
        <p:txBody>
          <a:bodyPr>
            <a:normAutofit/>
          </a:bodyPr>
          <a:lstStyle/>
          <a:p>
            <a:r>
              <a:rPr lang="en-US" altLang="ja-JP" sz="3600" dirty="0"/>
              <a:t>HTML</a:t>
            </a:r>
            <a:r>
              <a:rPr lang="ja-JP" altLang="en-US" sz="3600" dirty="0"/>
              <a:t>と</a:t>
            </a:r>
            <a:r>
              <a:rPr lang="en-US" altLang="ja-JP" sz="3600" dirty="0"/>
              <a:t>CSS</a:t>
            </a:r>
          </a:p>
          <a:p>
            <a:r>
              <a:rPr lang="ja-JP" altLang="en-US" sz="3600" dirty="0"/>
              <a:t>基本的な</a:t>
            </a:r>
            <a:r>
              <a:rPr lang="en-US" altLang="ja-JP" sz="3600" dirty="0"/>
              <a:t>HTML</a:t>
            </a:r>
            <a:r>
              <a:rPr lang="ja-JP" altLang="en-US" sz="3600" dirty="0"/>
              <a:t>のパーツ</a:t>
            </a:r>
            <a:endParaRPr lang="en-US" altLang="ja-JP" sz="3600" dirty="0"/>
          </a:p>
          <a:p>
            <a:r>
              <a:rPr lang="en-US" altLang="ja-JP" sz="3600" dirty="0"/>
              <a:t>id</a:t>
            </a:r>
            <a:r>
              <a:rPr lang="ja-JP" altLang="en-US" sz="3600" dirty="0"/>
              <a:t>と</a:t>
            </a:r>
            <a:r>
              <a:rPr lang="en-US" altLang="ja-JP" sz="3600" dirty="0"/>
              <a:t>class</a:t>
            </a:r>
          </a:p>
          <a:p>
            <a:r>
              <a:rPr lang="en-US" altLang="ja-JP" sz="3600" dirty="0"/>
              <a:t>inline</a:t>
            </a:r>
            <a:r>
              <a:rPr lang="ja-JP" altLang="en-US" sz="3600" dirty="0"/>
              <a:t>要素と</a:t>
            </a:r>
            <a:r>
              <a:rPr lang="en-US" altLang="ja-JP" sz="3600" dirty="0"/>
              <a:t>block</a:t>
            </a:r>
            <a:r>
              <a:rPr lang="ja-JP" altLang="en-US" sz="3600" dirty="0"/>
              <a:t>要素</a:t>
            </a:r>
            <a:endParaRPr lang="en-US" altLang="ja-JP" sz="3600" dirty="0"/>
          </a:p>
          <a:p>
            <a:r>
              <a:rPr lang="en-US" altLang="ja-JP" sz="3600" dirty="0"/>
              <a:t>CSS</a:t>
            </a:r>
            <a:r>
              <a:rPr lang="ja-JP" altLang="en-US" sz="3600" dirty="0"/>
              <a:t>のフレームワーク</a:t>
            </a:r>
            <a:endParaRPr lang="en-US" altLang="ja-JP" sz="3600" dirty="0"/>
          </a:p>
          <a:p>
            <a:pPr lvl="1"/>
            <a:r>
              <a:rPr lang="ja-JP" altLang="en-US" sz="3400" dirty="0"/>
              <a:t>まず</a:t>
            </a:r>
            <a:r>
              <a:rPr lang="ja-JP" altLang="en-US" sz="3200" dirty="0"/>
              <a:t>は</a:t>
            </a:r>
            <a:r>
              <a:rPr lang="en-US" altLang="ja-JP" sz="3200" dirty="0"/>
              <a:t>grid</a:t>
            </a:r>
            <a:r>
              <a:rPr lang="ja-JP" altLang="en-US" sz="3200" dirty="0"/>
              <a:t>でいろいろ作ってみる</a:t>
            </a:r>
            <a:endParaRPr lang="en-US" altLang="ja-JP" sz="3200" dirty="0"/>
          </a:p>
          <a:p>
            <a:pPr lvl="1"/>
            <a:r>
              <a:rPr lang="en-US" altLang="ja-JP" sz="3400" dirty="0"/>
              <a:t>Tailwind</a:t>
            </a:r>
          </a:p>
          <a:p>
            <a:pPr lvl="1"/>
            <a:endParaRPr lang="en-US" altLang="ja-JP" sz="3400" dirty="0"/>
          </a:p>
          <a:p>
            <a:endParaRPr lang="en-US" altLang="ja-JP" sz="3600" dirty="0"/>
          </a:p>
          <a:p>
            <a:endParaRPr lang="en-US" altLang="ja-JP" sz="3600" dirty="0"/>
          </a:p>
          <a:p>
            <a:endParaRPr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662538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9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71786F5D-C130-4C0D-A6CD-2DAC2DB80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ja-JP" altLang="en-US" dirty="0"/>
              <a:t>第</a:t>
            </a:r>
            <a:r>
              <a:rPr lang="en-US" altLang="ja-JP" dirty="0"/>
              <a:t>20</a:t>
            </a:r>
            <a:r>
              <a:rPr lang="ja-JP" altLang="en-US" dirty="0"/>
              <a:t>回</a:t>
            </a:r>
            <a:br>
              <a:rPr lang="ja-JP" altLang="en-US" dirty="0"/>
            </a:br>
            <a:r>
              <a:rPr lang="ja-JP" altLang="en-US" dirty="0"/>
              <a:t>ウェブデザイン技能競技会</a:t>
            </a:r>
            <a:br>
              <a:rPr lang="ja-JP" altLang="en-US" dirty="0"/>
            </a:br>
            <a:r>
              <a:rPr lang="ja-JP" altLang="en-US" dirty="0"/>
              <a:t>競技課題</a:t>
            </a:r>
          </a:p>
        </p:txBody>
      </p:sp>
      <p:sp>
        <p:nvSpPr>
          <p:cNvPr id="19" name="Isosceles Triangle 11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66BB59AC-B1E3-4861-A2CE-140A65E70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2940" y="2322512"/>
            <a:ext cx="9628717" cy="4143375"/>
          </a:xfrm>
        </p:spPr>
        <p:txBody>
          <a:bodyPr>
            <a:normAutofit/>
          </a:bodyPr>
          <a:lstStyle/>
          <a:p>
            <a:r>
              <a:rPr lang="en-US" altLang="ja-JP" sz="3600" dirty="0"/>
              <a:t>Task1</a:t>
            </a:r>
            <a:r>
              <a:rPr lang="ja-JP" altLang="en-US" sz="3600" dirty="0"/>
              <a:t>：レイアウト制作</a:t>
            </a:r>
          </a:p>
          <a:p>
            <a:r>
              <a:rPr lang="en-US" altLang="ja-JP" sz="3600" dirty="0"/>
              <a:t>Task2</a:t>
            </a:r>
            <a:r>
              <a:rPr lang="ja-JP" altLang="en-US" sz="3600" dirty="0"/>
              <a:t>：アニメーション</a:t>
            </a:r>
          </a:p>
          <a:p>
            <a:r>
              <a:rPr lang="en-US" altLang="ja-JP" sz="3600" dirty="0"/>
              <a:t>Task3</a:t>
            </a:r>
            <a:r>
              <a:rPr lang="ja-JP" altLang="en-US" sz="3600" dirty="0"/>
              <a:t>：レスポンシブウェブデザイン</a:t>
            </a:r>
          </a:p>
          <a:p>
            <a:r>
              <a:rPr lang="en-US" altLang="ja-JP" sz="3600" dirty="0"/>
              <a:t>Task4</a:t>
            </a:r>
            <a:r>
              <a:rPr lang="ja-JP" altLang="en-US" sz="3600" dirty="0"/>
              <a:t>：ハンバーガーメニュー</a:t>
            </a:r>
            <a:endParaRPr lang="en-US" altLang="ja-JP" sz="3600" dirty="0"/>
          </a:p>
          <a:p>
            <a:r>
              <a:rPr lang="en-US" altLang="ja-JP" sz="3600" dirty="0"/>
              <a:t>Task5</a:t>
            </a:r>
            <a:r>
              <a:rPr lang="ja-JP" altLang="en-US" sz="3600" dirty="0"/>
              <a:t>：テーブルデザイン</a:t>
            </a:r>
            <a:endParaRPr lang="en-US" altLang="ja-JP" sz="3600" dirty="0"/>
          </a:p>
          <a:p>
            <a:r>
              <a:rPr lang="en-US" altLang="ja-JP" sz="3600" dirty="0"/>
              <a:t>Task6</a:t>
            </a:r>
            <a:r>
              <a:rPr lang="ja-JP" altLang="en-US" sz="3600" dirty="0"/>
              <a:t>：フォーム作成</a:t>
            </a:r>
          </a:p>
          <a:p>
            <a:pPr marL="0" indent="0">
              <a:buNone/>
            </a:pPr>
            <a:endParaRPr lang="en-US" altLang="ja-JP" sz="3600" dirty="0"/>
          </a:p>
        </p:txBody>
      </p:sp>
      <p:sp>
        <p:nvSpPr>
          <p:cNvPr id="20" name="Isosceles Triangle 13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66598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71786F5D-C130-4C0D-A6CD-2DAC2DB80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altLang="ja-JP" dirty="0"/>
              <a:t>Task1</a:t>
            </a:r>
            <a:r>
              <a:rPr lang="ja-JP" altLang="en-US" dirty="0"/>
              <a:t>：レイアウト制作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8CF9E77-6BF6-B3E9-C24D-231BD4D58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905" y="1930400"/>
            <a:ext cx="8596668" cy="3880773"/>
          </a:xfrm>
        </p:spPr>
        <p:txBody>
          <a:bodyPr/>
          <a:lstStyle/>
          <a:p>
            <a:r>
              <a:rPr lang="ja-JP" altLang="en-US" dirty="0"/>
              <a:t>まずは</a:t>
            </a:r>
            <a:r>
              <a:rPr lang="en-US" altLang="ja-JP" dirty="0"/>
              <a:t>grid</a:t>
            </a:r>
            <a:r>
              <a:rPr lang="ja-JP" altLang="en-US" dirty="0"/>
              <a:t>で作ってみる</a:t>
            </a:r>
            <a:endParaRPr lang="en-US" altLang="ja-JP" dirty="0"/>
          </a:p>
          <a:p>
            <a:pPr lvl="1"/>
            <a:r>
              <a:rPr lang="en-US" altLang="ja-JP" dirty="0"/>
              <a:t>]CSS Grid Layout</a:t>
            </a:r>
            <a:r>
              <a:rPr lang="ja-JP" altLang="en-US" dirty="0"/>
              <a:t>入門</a:t>
            </a:r>
          </a:p>
          <a:p>
            <a:pPr lvl="2"/>
            <a:r>
              <a:rPr lang="en-US" altLang="ja-JP" dirty="0">
                <a:hlinkClick r:id="rId2"/>
              </a:rPr>
              <a:t>https://ics.media/entry/15649/</a:t>
            </a:r>
            <a:endParaRPr lang="en-US" altLang="ja-JP" dirty="0"/>
          </a:p>
          <a:p>
            <a:pPr lvl="1"/>
            <a:r>
              <a:rPr lang="en-US" altLang="ja-JP" dirty="0"/>
              <a:t>grid</a:t>
            </a:r>
            <a:r>
              <a:rPr lang="ja-JP" altLang="en-US" dirty="0"/>
              <a:t>でできるこんなレイアウト</a:t>
            </a:r>
            <a:r>
              <a:rPr lang="en-US" altLang="ja-JP" dirty="0"/>
              <a:t>10</a:t>
            </a:r>
            <a:r>
              <a:rPr lang="ja-JP" altLang="en-US" dirty="0"/>
              <a:t>選</a:t>
            </a:r>
          </a:p>
          <a:p>
            <a:pPr lvl="2"/>
            <a:r>
              <a:rPr lang="en-US" altLang="ja-JP" dirty="0">
                <a:hlinkClick r:id="rId3"/>
              </a:rPr>
              <a:t>https://zenn.dev/kagan/articles/4f96a97aadfcb8</a:t>
            </a:r>
            <a:endParaRPr lang="en-US" altLang="ja-JP" dirty="0"/>
          </a:p>
          <a:p>
            <a:pPr lvl="1"/>
            <a:r>
              <a:rPr lang="en-US" altLang="ja-JP" dirty="0"/>
              <a:t>Object-fit</a:t>
            </a:r>
          </a:p>
          <a:p>
            <a:pPr lvl="2"/>
            <a:r>
              <a:rPr lang="en-US" altLang="ja-JP" dirty="0">
                <a:hlinkClick r:id="rId4"/>
              </a:rPr>
              <a:t>https://webdesignday.jp/programing/object-fit/#google_vignette</a:t>
            </a:r>
            <a:endParaRPr lang="ja-JP" altLang="en-US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C4BDF51D-BEAC-E3A7-BF4D-9E42493F14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0532" y="1806575"/>
            <a:ext cx="4677483" cy="400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353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E17AA-C5C6-BA8D-0384-2F88C9ED2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31780DAB-107A-AE13-B9CA-7158AB530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altLang="ja-JP" dirty="0"/>
              <a:t>Task1</a:t>
            </a:r>
            <a:r>
              <a:rPr lang="ja-JP" altLang="en-US" dirty="0"/>
              <a:t>：</a:t>
            </a:r>
            <a:r>
              <a:rPr lang="en-US" altLang="ja-JP" dirty="0"/>
              <a:t>Tailwind</a:t>
            </a:r>
            <a:r>
              <a:rPr lang="ja-JP" altLang="en-US" dirty="0"/>
              <a:t>フレームワーク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547C27C-2FF3-D981-FFE6-C3EFB70A6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905" y="1930400"/>
            <a:ext cx="8596668" cy="3880773"/>
          </a:xfrm>
        </p:spPr>
        <p:txBody>
          <a:bodyPr>
            <a:normAutofit fontScale="92500" lnSpcReduction="10000"/>
          </a:bodyPr>
          <a:lstStyle/>
          <a:p>
            <a:r>
              <a:rPr lang="en-US" altLang="ja-JP" dirty="0"/>
              <a:t>Tailwind</a:t>
            </a:r>
            <a:r>
              <a:rPr lang="ja-JP" altLang="en-US" dirty="0"/>
              <a:t>フレームワーク</a:t>
            </a:r>
            <a:endParaRPr lang="en-US" altLang="ja-JP" dirty="0"/>
          </a:p>
          <a:p>
            <a:pPr lvl="1"/>
            <a:r>
              <a:rPr lang="en-US" altLang="ja-JP" dirty="0"/>
              <a:t>Tailwind CSS</a:t>
            </a:r>
            <a:r>
              <a:rPr lang="ja-JP" altLang="en-US" dirty="0"/>
              <a:t>を使用しておしゃれなウェブサイトを素早く開発する方法</a:t>
            </a:r>
          </a:p>
          <a:p>
            <a:pPr lvl="2"/>
            <a:r>
              <a:rPr lang="en-US" altLang="ja-JP" dirty="0">
                <a:hlinkClick r:id="rId2"/>
              </a:rPr>
              <a:t>https://kinsta.com/jp/blog/tailwind-css/</a:t>
            </a:r>
            <a:endParaRPr lang="en-US" altLang="ja-JP" dirty="0"/>
          </a:p>
          <a:p>
            <a:pPr lvl="1"/>
            <a:r>
              <a:rPr lang="en-US" altLang="ja-JP" dirty="0"/>
              <a:t>【Tailwind CSS</a:t>
            </a:r>
            <a:r>
              <a:rPr lang="ja-JP" altLang="en-US" dirty="0"/>
              <a:t>入門</a:t>
            </a:r>
            <a:r>
              <a:rPr lang="en-US" altLang="ja-JP" dirty="0"/>
              <a:t>】</a:t>
            </a:r>
            <a:r>
              <a:rPr lang="ja-JP" altLang="en-US" dirty="0"/>
              <a:t>初心者でも今日から使える実践ガイド</a:t>
            </a:r>
          </a:p>
          <a:p>
            <a:pPr lvl="2"/>
            <a:r>
              <a:rPr lang="en-US" altLang="ja-JP" dirty="0">
                <a:hlinkClick r:id="rId3"/>
              </a:rPr>
              <a:t>https://zenn.dev/kagan/articles/4f96a97aadfcb8</a:t>
            </a:r>
            <a:endParaRPr lang="en-US" altLang="ja-JP" dirty="0"/>
          </a:p>
          <a:p>
            <a:pPr lvl="1"/>
            <a:r>
              <a:rPr lang="en-US" altLang="ja-JP" dirty="0"/>
              <a:t>Tailwind CSS </a:t>
            </a:r>
            <a:r>
              <a:rPr lang="ja-JP" altLang="en-US" dirty="0"/>
              <a:t>入門と実践</a:t>
            </a:r>
            <a:endParaRPr lang="en-US" altLang="ja-JP" dirty="0"/>
          </a:p>
          <a:p>
            <a:pPr lvl="2"/>
            <a:r>
              <a:rPr lang="en-US" altLang="ja-JP" dirty="0">
                <a:hlinkClick r:id="rId4"/>
              </a:rPr>
              <a:t>https://zenn.dev/yohei_watanabe/books/c0b573713734b9</a:t>
            </a:r>
            <a:endParaRPr lang="en-US" altLang="ja-JP" dirty="0"/>
          </a:p>
          <a:p>
            <a:pPr lvl="2"/>
            <a:endParaRPr lang="en-US" altLang="ja-JP" dirty="0"/>
          </a:p>
          <a:p>
            <a:pPr lvl="1"/>
            <a:r>
              <a:rPr lang="en-US" altLang="ja-JP" dirty="0"/>
              <a:t>Tailwind</a:t>
            </a:r>
            <a:r>
              <a:rPr lang="ja-JP" altLang="en-US" dirty="0"/>
              <a:t>を簡単にテストできるサイト（</a:t>
            </a:r>
            <a:r>
              <a:rPr lang="en-US" altLang="ja-JP" dirty="0"/>
              <a:t>Tailwind Play</a:t>
            </a:r>
            <a:r>
              <a:rPr lang="ja-JP" altLang="en-US" dirty="0"/>
              <a:t>）</a:t>
            </a:r>
            <a:endParaRPr lang="en-US" altLang="ja-JP" dirty="0"/>
          </a:p>
          <a:p>
            <a:pPr lvl="2"/>
            <a:r>
              <a:rPr lang="en-US" altLang="ja-JP" dirty="0">
                <a:hlinkClick r:id="rId5"/>
              </a:rPr>
              <a:t>https://play.tailwindcss.com/</a:t>
            </a:r>
            <a:endParaRPr lang="en-US" altLang="ja-JP" dirty="0"/>
          </a:p>
          <a:p>
            <a:pPr lvl="1"/>
            <a:r>
              <a:rPr lang="en-US" altLang="ja-JP" dirty="0"/>
              <a:t>head</a:t>
            </a:r>
            <a:r>
              <a:rPr lang="ja-JP" altLang="en-US" dirty="0"/>
              <a:t>タグに以下を入れるだけでも</a:t>
            </a:r>
            <a:r>
              <a:rPr lang="en-US" altLang="ja-JP" dirty="0"/>
              <a:t>OK</a:t>
            </a:r>
          </a:p>
          <a:p>
            <a:pPr lvl="2"/>
            <a:r>
              <a:rPr lang="en-US" altLang="ja-JP" dirty="0"/>
              <a:t>&lt;script </a:t>
            </a:r>
            <a:r>
              <a:rPr lang="en-US" altLang="ja-JP" dirty="0" err="1"/>
              <a:t>src</a:t>
            </a:r>
            <a:r>
              <a:rPr lang="en-US" altLang="ja-JP" dirty="0"/>
              <a:t>="https://cdn.tailwindcss.com"&gt;&lt;/script&gt;</a:t>
            </a:r>
          </a:p>
          <a:p>
            <a:pPr marL="914400" lvl="2" indent="0">
              <a:buNone/>
            </a:pP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59515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71620-3E33-0137-0812-215D80E05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77FB3E5C-D462-A668-8F53-334B0E667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altLang="ja-JP" dirty="0"/>
              <a:t>Task1</a:t>
            </a:r>
            <a:r>
              <a:rPr lang="ja-JP" altLang="en-US" dirty="0"/>
              <a:t>：</a:t>
            </a:r>
            <a:r>
              <a:rPr lang="en-US" altLang="ja-JP" dirty="0"/>
              <a:t>Tailwind</a:t>
            </a:r>
            <a:br>
              <a:rPr lang="en-US" altLang="ja-JP" dirty="0"/>
            </a:br>
            <a:r>
              <a:rPr lang="ja-JP" altLang="en-US" dirty="0"/>
              <a:t>ユーティリティファースト</a:t>
            </a:r>
            <a:r>
              <a:rPr lang="en-US" altLang="ja-JP" dirty="0"/>
              <a:t>CSS</a:t>
            </a:r>
            <a:r>
              <a:rPr lang="ja-JP" altLang="en-US" dirty="0"/>
              <a:t>って？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57CE857-F089-AF9F-9C87-EE44235ED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905" y="1930400"/>
            <a:ext cx="8596668" cy="4802094"/>
          </a:xfrm>
        </p:spPr>
        <p:txBody>
          <a:bodyPr>
            <a:normAutofit/>
          </a:bodyPr>
          <a:lstStyle/>
          <a:p>
            <a:r>
              <a:rPr lang="ja-JP" altLang="en-US" dirty="0"/>
              <a:t>定義</a:t>
            </a:r>
            <a:endParaRPr lang="en-US" altLang="ja-JP" dirty="0"/>
          </a:p>
          <a:p>
            <a:pPr lvl="1"/>
            <a:r>
              <a:rPr lang="ja-JP" altLang="en-US" dirty="0"/>
              <a:t>ユーティリティファースト（</a:t>
            </a:r>
            <a:r>
              <a:rPr lang="en-US" altLang="ja-JP" dirty="0"/>
              <a:t>Utility-First</a:t>
            </a:r>
            <a:r>
              <a:rPr lang="ja-JP" altLang="en-US" dirty="0"/>
              <a:t>）</a:t>
            </a:r>
            <a:r>
              <a:rPr lang="en-US" altLang="ja-JP" dirty="0"/>
              <a:t>CSS </a:t>
            </a:r>
            <a:r>
              <a:rPr lang="ja-JP" altLang="en-US" dirty="0"/>
              <a:t>とは、</a:t>
            </a:r>
            <a:r>
              <a:rPr lang="en-US" altLang="ja-JP" dirty="0"/>
              <a:t>1</a:t>
            </a:r>
            <a:r>
              <a:rPr lang="ja-JP" altLang="en-US" dirty="0"/>
              <a:t>つの特定の機能だけを担う</a:t>
            </a:r>
            <a:r>
              <a:rPr lang="ja-JP" altLang="en-US" dirty="0">
                <a:solidFill>
                  <a:schemeClr val="accent5"/>
                </a:solidFill>
              </a:rPr>
              <a:t>小さなクラス（ユーティリティクラス）</a:t>
            </a:r>
            <a:r>
              <a:rPr lang="ja-JP" altLang="en-US" dirty="0"/>
              <a:t>を</a:t>
            </a:r>
            <a:r>
              <a:rPr lang="en-US" altLang="ja-JP" dirty="0"/>
              <a:t>HTML</a:t>
            </a:r>
            <a:r>
              <a:rPr lang="ja-JP" altLang="en-US" dirty="0"/>
              <a:t>に直接付けてスタイルを構成する手法です。</a:t>
            </a:r>
          </a:p>
          <a:p>
            <a:pPr lvl="1"/>
            <a:r>
              <a:rPr lang="ja-JP" altLang="en-US" dirty="0"/>
              <a:t> 従来の</a:t>
            </a:r>
            <a:r>
              <a:rPr lang="en-US" altLang="ja-JP" dirty="0"/>
              <a:t>CSS</a:t>
            </a:r>
            <a:r>
              <a:rPr lang="ja-JP" altLang="en-US" dirty="0"/>
              <a:t>との違い</a:t>
            </a:r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ja-JP" altLang="en-US" dirty="0"/>
          </a:p>
          <a:p>
            <a:pPr lvl="3"/>
            <a:endParaRPr lang="en-US" altLang="ja-JP" dirty="0"/>
          </a:p>
          <a:p>
            <a:pPr lvl="3"/>
            <a:endParaRPr lang="en-US" altLang="ja-JP" dirty="0"/>
          </a:p>
          <a:p>
            <a:pPr lvl="1"/>
            <a:r>
              <a:rPr lang="ja-JP" altLang="en-US" dirty="0"/>
              <a:t>メリット</a:t>
            </a:r>
            <a:endParaRPr lang="en-US" altLang="ja-JP" dirty="0"/>
          </a:p>
          <a:p>
            <a:pPr lvl="2"/>
            <a:r>
              <a:rPr lang="ja-JP" altLang="en-US" dirty="0"/>
              <a:t>素早くレイアウトを作れる（</a:t>
            </a:r>
            <a:r>
              <a:rPr lang="en-US" altLang="ja-JP" dirty="0"/>
              <a:t>CSS</a:t>
            </a:r>
            <a:r>
              <a:rPr lang="ja-JP" altLang="en-US" dirty="0"/>
              <a:t>を書かなくて済む）</a:t>
            </a:r>
            <a:endParaRPr lang="en-US" altLang="ja-JP" dirty="0"/>
          </a:p>
          <a:p>
            <a:pPr lvl="2"/>
            <a:r>
              <a:rPr lang="ja-JP" altLang="en-US" dirty="0"/>
              <a:t>クラスの再利用・組み合わせが簡単</a:t>
            </a:r>
            <a:endParaRPr lang="en-US" altLang="ja-JP" dirty="0"/>
          </a:p>
          <a:p>
            <a:pPr lvl="2"/>
            <a:r>
              <a:rPr lang="ja-JP" altLang="en-US" dirty="0"/>
              <a:t>デザインの一貫性が保てる（決められた色や余白だけ使用）</a:t>
            </a:r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8BE55597-A962-0819-712C-202C539AE7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654886"/>
              </p:ext>
            </p:extLst>
          </p:nvPr>
        </p:nvGraphicFramePr>
        <p:xfrm>
          <a:off x="1333502" y="3589767"/>
          <a:ext cx="916491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0471">
                  <a:extLst>
                    <a:ext uri="{9D8B030D-6E8A-4147-A177-3AD203B41FA5}">
                      <a16:colId xmlns:a16="http://schemas.microsoft.com/office/drawing/2014/main" val="125698372"/>
                    </a:ext>
                  </a:extLst>
                </a:gridCol>
                <a:gridCol w="4204447">
                  <a:extLst>
                    <a:ext uri="{9D8B030D-6E8A-4147-A177-3AD203B41FA5}">
                      <a16:colId xmlns:a16="http://schemas.microsoft.com/office/drawing/2014/main" val="23962089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従来の</a:t>
                      </a:r>
                      <a:r>
                        <a:rPr kumimoji="1" lang="en-US" altLang="ja-JP" dirty="0"/>
                        <a:t>CSS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ユーティリティファースト</a:t>
                      </a:r>
                      <a:r>
                        <a:rPr kumimoji="1" lang="en-US" altLang="ja-JP" dirty="0"/>
                        <a:t>CSS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991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.card { padding: 16px; background: #eee; }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&lt;div class="p-4 bg-gray-200"&gt;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310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スタイルは</a:t>
                      </a:r>
                      <a:r>
                        <a:rPr kumimoji="1" lang="en-US" altLang="ja-JP" dirty="0"/>
                        <a:t>CSS</a:t>
                      </a:r>
                      <a:r>
                        <a:rPr kumimoji="1" lang="ja-JP" altLang="en-US" dirty="0"/>
                        <a:t>ファイルに定義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スタイルはクラスで</a:t>
                      </a:r>
                      <a:r>
                        <a:rPr kumimoji="1" lang="en-US" altLang="ja-JP" dirty="0"/>
                        <a:t>HTML</a:t>
                      </a:r>
                      <a:r>
                        <a:rPr kumimoji="1" lang="ja-JP" altLang="en-US" dirty="0"/>
                        <a:t>に直接書く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6413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再利用のために命名が必要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命名よりも構成（組み合わせ）重視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638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8735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71620-3E33-0137-0812-215D80E05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77FB3E5C-D462-A668-8F53-334B0E667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altLang="ja-JP" dirty="0"/>
              <a:t>Task1</a:t>
            </a:r>
            <a:r>
              <a:rPr lang="ja-JP" altLang="en-US" dirty="0"/>
              <a:t>：</a:t>
            </a:r>
            <a:r>
              <a:rPr lang="en-US" altLang="ja-JP" dirty="0"/>
              <a:t>Tailwind</a:t>
            </a:r>
            <a:br>
              <a:rPr lang="en-US" altLang="ja-JP" dirty="0"/>
            </a:br>
            <a:r>
              <a:rPr lang="ja-JP" altLang="en-US" dirty="0"/>
              <a:t>基本のユーティリティクラス例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57CE857-F089-AF9F-9C87-EE44235ED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905" y="1930400"/>
            <a:ext cx="8596668" cy="4802094"/>
          </a:xfrm>
        </p:spPr>
        <p:txBody>
          <a:bodyPr>
            <a:normAutofit/>
          </a:bodyPr>
          <a:lstStyle/>
          <a:p>
            <a:r>
              <a:rPr lang="ja-JP" altLang="en-US" dirty="0"/>
              <a:t>背景色、テキスト色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テキスト・配置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余白（</a:t>
            </a:r>
            <a:r>
              <a:rPr lang="en-US" altLang="ja-JP" dirty="0"/>
              <a:t>Padding</a:t>
            </a:r>
            <a:r>
              <a:rPr lang="ja-JP" altLang="en-US" dirty="0"/>
              <a:t>・</a:t>
            </a:r>
            <a:r>
              <a:rPr lang="en-US" altLang="ja-JP" dirty="0"/>
              <a:t>Margin</a:t>
            </a:r>
            <a:r>
              <a:rPr lang="ja-JP" altLang="en-US" dirty="0"/>
              <a:t>）</a:t>
            </a:r>
            <a:endParaRPr lang="en-US" altLang="ja-JP" dirty="0"/>
          </a:p>
          <a:p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ja-JP" altLang="en-US" dirty="0"/>
          </a:p>
          <a:p>
            <a:pPr lvl="3"/>
            <a:endParaRPr lang="en-US" altLang="ja-JP" dirty="0"/>
          </a:p>
          <a:p>
            <a:pPr lvl="3"/>
            <a:endParaRPr lang="en-US" altLang="ja-JP" dirty="0"/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8BE55597-A962-0819-712C-202C539AE7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894347"/>
              </p:ext>
            </p:extLst>
          </p:nvPr>
        </p:nvGraphicFramePr>
        <p:xfrm>
          <a:off x="1333501" y="5513647"/>
          <a:ext cx="7670071" cy="973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3416">
                  <a:extLst>
                    <a:ext uri="{9D8B030D-6E8A-4147-A177-3AD203B41FA5}">
                      <a16:colId xmlns:a16="http://schemas.microsoft.com/office/drawing/2014/main" val="125698372"/>
                    </a:ext>
                  </a:extLst>
                </a:gridCol>
                <a:gridCol w="5426655">
                  <a:extLst>
                    <a:ext uri="{9D8B030D-6E8A-4147-A177-3AD203B41FA5}">
                      <a16:colId xmlns:a16="http://schemas.microsoft.com/office/drawing/2014/main" val="2396208966"/>
                    </a:ext>
                  </a:extLst>
                </a:gridCol>
              </a:tblGrid>
              <a:tr h="159388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クラス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説明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991405"/>
                  </a:ext>
                </a:extLst>
              </a:tr>
              <a:tr h="116553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kumimoji="1"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p-4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kumimoji="1" lang="ja-JP" alt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全体に </a:t>
                      </a:r>
                      <a:r>
                        <a:rPr kumimoji="1"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padding 1rem（16px）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25310222"/>
                  </a:ext>
                </a:extLst>
              </a:tr>
              <a:tr h="116553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kumimoji="1"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pt-2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kumimoji="1" lang="ja-JP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上（</a:t>
                      </a:r>
                      <a:r>
                        <a:rPr kumimoji="1" lang="en-US" altLang="ja-JP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top</a:t>
                      </a:r>
                      <a:r>
                        <a:rPr kumimoji="1" lang="ja-JP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）に </a:t>
                      </a:r>
                      <a:r>
                        <a:rPr kumimoji="1"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padding（0.5rem）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66413376"/>
                  </a:ext>
                </a:extLst>
              </a:tr>
              <a:tr h="116553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kumimoji="1"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m-0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kumimoji="1" lang="ja-JP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全て </a:t>
                      </a:r>
                      <a:r>
                        <a:rPr kumimoji="1"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margin 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35638997"/>
                  </a:ext>
                </a:extLst>
              </a:tr>
            </a:tbl>
          </a:graphicData>
        </a:graphic>
      </p:graphicFrame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7346C4E7-68E9-6E02-0955-C99AF2B06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030392"/>
              </p:ext>
            </p:extLst>
          </p:nvPr>
        </p:nvGraphicFramePr>
        <p:xfrm>
          <a:off x="1333502" y="2232660"/>
          <a:ext cx="7670071" cy="1196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6523">
                  <a:extLst>
                    <a:ext uri="{9D8B030D-6E8A-4147-A177-3AD203B41FA5}">
                      <a16:colId xmlns:a16="http://schemas.microsoft.com/office/drawing/2014/main" val="125698372"/>
                    </a:ext>
                  </a:extLst>
                </a:gridCol>
                <a:gridCol w="5453548">
                  <a:extLst>
                    <a:ext uri="{9D8B030D-6E8A-4147-A177-3AD203B41FA5}">
                      <a16:colId xmlns:a16="http://schemas.microsoft.com/office/drawing/2014/main" val="23962089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クラス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説明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991405"/>
                  </a:ext>
                </a:extLst>
              </a:tr>
              <a:tr h="49827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kumimoji="1"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bg-gray-200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kumimoji="1" lang="ja-JP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明るいグレーの背景色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25310222"/>
                  </a:ext>
                </a:extLst>
              </a:tr>
              <a:tr h="49827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kumimoji="1"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bg-blue-500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kumimoji="1" lang="ja-JP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標準的な青色の背景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2528893"/>
                  </a:ext>
                </a:extLst>
              </a:tr>
              <a:tr h="49827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kumimoji="1"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text-white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kumimoji="1" lang="ja-JP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文字色を白に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66413376"/>
                  </a:ext>
                </a:extLst>
              </a:tr>
              <a:tr h="49827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kumimoji="1"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text-gray-700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kumimoji="1" lang="ja-JP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濃いめのグレー文字色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35638997"/>
                  </a:ext>
                </a:extLst>
              </a:tr>
            </a:tbl>
          </a:graphicData>
        </a:graphic>
      </p:graphicFrame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FD2FD3B1-4A12-09BC-BA5B-46E75AC2A7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789442"/>
              </p:ext>
            </p:extLst>
          </p:nvPr>
        </p:nvGraphicFramePr>
        <p:xfrm>
          <a:off x="1333500" y="3884407"/>
          <a:ext cx="7670071" cy="1196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6523">
                  <a:extLst>
                    <a:ext uri="{9D8B030D-6E8A-4147-A177-3AD203B41FA5}">
                      <a16:colId xmlns:a16="http://schemas.microsoft.com/office/drawing/2014/main" val="125698372"/>
                    </a:ext>
                  </a:extLst>
                </a:gridCol>
                <a:gridCol w="5453548">
                  <a:extLst>
                    <a:ext uri="{9D8B030D-6E8A-4147-A177-3AD203B41FA5}">
                      <a16:colId xmlns:a16="http://schemas.microsoft.com/office/drawing/2014/main" val="23962089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クラス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説明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991405"/>
                  </a:ext>
                </a:extLst>
              </a:tr>
              <a:tr h="49827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kumimoji="1"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text-center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kumimoji="1" lang="ja-JP" alt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テキストを中央揃え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25310222"/>
                  </a:ext>
                </a:extLst>
              </a:tr>
              <a:tr h="49827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kumimoji="1"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text-left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kumimoji="1" lang="ja-JP" alt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テキストを左揃え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2528893"/>
                  </a:ext>
                </a:extLst>
              </a:tr>
              <a:tr h="49827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kumimoji="1"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font-bold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kumimoji="1" lang="ja-JP" alt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太字に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66413376"/>
                  </a:ext>
                </a:extLst>
              </a:tr>
              <a:tr h="49827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kumimoji="1"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text-xl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kumimoji="1" lang="ja-JP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大きめの文字サイズ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35638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6419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71620-3E33-0137-0812-215D80E05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77FB3E5C-D462-A668-8F53-334B0E667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altLang="ja-JP" dirty="0"/>
              <a:t>Task1</a:t>
            </a:r>
            <a:r>
              <a:rPr lang="ja-JP" altLang="en-US" dirty="0"/>
              <a:t>：</a:t>
            </a:r>
            <a:r>
              <a:rPr lang="en-US" altLang="ja-JP" dirty="0"/>
              <a:t>Tailwind</a:t>
            </a:r>
            <a:br>
              <a:rPr lang="en-US" altLang="ja-JP" dirty="0"/>
            </a:br>
            <a:r>
              <a:rPr lang="ja-JP" altLang="en-US" dirty="0"/>
              <a:t>レイアウト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57CE857-F089-AF9F-9C87-EE44235ED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905" y="1930400"/>
            <a:ext cx="8596668" cy="4802094"/>
          </a:xfrm>
        </p:spPr>
        <p:txBody>
          <a:bodyPr>
            <a:normAutofit/>
          </a:bodyPr>
          <a:lstStyle/>
          <a:p>
            <a:r>
              <a:rPr lang="ja-JP" altLang="en-US" dirty="0"/>
              <a:t>背景色、テキスト色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ja-JP" altLang="en-US" dirty="0"/>
          </a:p>
          <a:p>
            <a:pPr lvl="3"/>
            <a:endParaRPr lang="en-US" altLang="ja-JP" dirty="0"/>
          </a:p>
          <a:p>
            <a:pPr lvl="3"/>
            <a:endParaRPr lang="en-US" altLang="ja-JP" dirty="0"/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7346C4E7-68E9-6E02-0955-C99AF2B06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567324"/>
              </p:ext>
            </p:extLst>
          </p:nvPr>
        </p:nvGraphicFramePr>
        <p:xfrm>
          <a:off x="1333502" y="2232660"/>
          <a:ext cx="7670071" cy="1196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6523">
                  <a:extLst>
                    <a:ext uri="{9D8B030D-6E8A-4147-A177-3AD203B41FA5}">
                      <a16:colId xmlns:a16="http://schemas.microsoft.com/office/drawing/2014/main" val="125698372"/>
                    </a:ext>
                  </a:extLst>
                </a:gridCol>
                <a:gridCol w="5453548">
                  <a:extLst>
                    <a:ext uri="{9D8B030D-6E8A-4147-A177-3AD203B41FA5}">
                      <a16:colId xmlns:a16="http://schemas.microsoft.com/office/drawing/2014/main" val="23962089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クラス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説明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991405"/>
                  </a:ext>
                </a:extLst>
              </a:tr>
              <a:tr h="49827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kumimoji="1"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w-full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kumimoji="1" lang="ja-JP" alt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横幅を</a:t>
                      </a:r>
                      <a:r>
                        <a:rPr kumimoji="1" lang="en-US" altLang="ja-JP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100%</a:t>
                      </a:r>
                      <a:r>
                        <a:rPr kumimoji="1" lang="ja-JP" alt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に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25310222"/>
                  </a:ext>
                </a:extLst>
              </a:tr>
              <a:tr h="49827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kumimoji="1"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max-w-screen-md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kumimoji="1" lang="ja-JP" alt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最大幅を中程度の画面サイズに制限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2528893"/>
                  </a:ext>
                </a:extLst>
              </a:tr>
              <a:tr h="49827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kumimoji="1"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grid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kumimoji="1" lang="ja-JP" alt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グリッドレイアウトとして表示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66413376"/>
                  </a:ext>
                </a:extLst>
              </a:tr>
              <a:tr h="49827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kumimoji="1"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flex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kumimoji="1" lang="ja-JP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フレックスレイアウトとして表示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35638997"/>
                  </a:ext>
                </a:extLst>
              </a:tr>
            </a:tbl>
          </a:graphicData>
        </a:graphic>
      </p:graphicFrame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C9BBFD6-68F6-062D-CE0E-AA4BAAA1CA4C}"/>
              </a:ext>
            </a:extLst>
          </p:cNvPr>
          <p:cNvSpPr txBox="1"/>
          <p:nvPr/>
        </p:nvSpPr>
        <p:spPr>
          <a:xfrm>
            <a:off x="884782" y="3731260"/>
            <a:ext cx="9469453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&lt;body class="p-8 bg-gray-100"&gt;</a:t>
            </a:r>
          </a:p>
          <a:p>
            <a:r>
              <a:rPr kumimoji="1" lang="en-US" altLang="ja-JP" sz="1200" dirty="0"/>
              <a:t>  &lt;div class="max-w-screen-md mx-auto"&gt;</a:t>
            </a:r>
          </a:p>
          <a:p>
            <a:r>
              <a:rPr kumimoji="1" lang="en-US" altLang="ja-JP" sz="1200" dirty="0"/>
              <a:t>    &lt;h1 class="text-2xl font-bold text-center mb-6"&gt;Tailwind</a:t>
            </a:r>
            <a:r>
              <a:rPr kumimoji="1" lang="ja-JP" altLang="en-US" sz="1200" dirty="0"/>
              <a:t>の基本クラス例</a:t>
            </a:r>
            <a:r>
              <a:rPr kumimoji="1" lang="en-US" altLang="ja-JP" sz="1200" dirty="0"/>
              <a:t>&lt;/h1&gt;</a:t>
            </a:r>
          </a:p>
          <a:p>
            <a:r>
              <a:rPr kumimoji="1" lang="en-US" altLang="ja-JP" sz="1200" dirty="0"/>
              <a:t>    &lt;div class="grid grid-cols-1 md:grid-cols-2 gap-4"&gt;</a:t>
            </a:r>
          </a:p>
          <a:p>
            <a:r>
              <a:rPr kumimoji="1" lang="en-US" altLang="ja-JP" sz="1200" dirty="0"/>
              <a:t>      &lt;div class="</a:t>
            </a:r>
            <a:r>
              <a:rPr kumimoji="1" lang="en-US" altLang="ja-JP" sz="1200" dirty="0" err="1"/>
              <a:t>bg</a:t>
            </a:r>
            <a:r>
              <a:rPr kumimoji="1" lang="en-US" altLang="ja-JP" sz="1200" dirty="0"/>
              <a:t>-white p-4 border rounded shadow"&gt;</a:t>
            </a:r>
          </a:p>
          <a:p>
            <a:r>
              <a:rPr kumimoji="1" lang="en-US" altLang="ja-JP" sz="1200" dirty="0"/>
              <a:t>        &lt;h2 class="text-xl font-bold mb-2"&gt;</a:t>
            </a:r>
            <a:r>
              <a:rPr kumimoji="1" lang="ja-JP" altLang="en-US" sz="1200" dirty="0"/>
              <a:t>カードタイトル</a:t>
            </a:r>
            <a:r>
              <a:rPr kumimoji="1" lang="en-US" altLang="ja-JP" sz="1200" dirty="0"/>
              <a:t>&lt;/h2&gt;</a:t>
            </a:r>
          </a:p>
          <a:p>
            <a:r>
              <a:rPr kumimoji="1" lang="en-US" altLang="ja-JP" sz="1200" dirty="0"/>
              <a:t>        &lt;p class="text-gray-700"&gt;</a:t>
            </a:r>
            <a:r>
              <a:rPr kumimoji="1" lang="ja-JP" altLang="en-US" sz="1200" dirty="0"/>
              <a:t>このカードは </a:t>
            </a:r>
            <a:r>
              <a:rPr kumimoji="1" lang="en-US" altLang="ja-JP" sz="1200" dirty="0"/>
              <a:t>&lt;code&gt;p-4&lt;/code&gt; </a:t>
            </a:r>
            <a:r>
              <a:rPr kumimoji="1" lang="ja-JP" altLang="en-US" sz="1200" dirty="0"/>
              <a:t>で余白、</a:t>
            </a:r>
            <a:r>
              <a:rPr kumimoji="1" lang="en-US" altLang="ja-JP" sz="1200" dirty="0"/>
              <a:t>&lt;code&gt;</a:t>
            </a:r>
            <a:r>
              <a:rPr kumimoji="1" lang="en-US" altLang="ja-JP" sz="1200" dirty="0" err="1"/>
              <a:t>bg</a:t>
            </a:r>
            <a:r>
              <a:rPr kumimoji="1" lang="en-US" altLang="ja-JP" sz="1200" dirty="0"/>
              <a:t>-white&lt;/code&gt; </a:t>
            </a:r>
            <a:r>
              <a:rPr kumimoji="1" lang="ja-JP" altLang="en-US" sz="1200" dirty="0"/>
              <a:t>で背景色を設定しています。</a:t>
            </a:r>
            <a:r>
              <a:rPr kumimoji="1" lang="en-US" altLang="ja-JP" sz="1200" dirty="0"/>
              <a:t>&lt;/p&gt;</a:t>
            </a:r>
          </a:p>
          <a:p>
            <a:r>
              <a:rPr kumimoji="1" lang="en-US" altLang="ja-JP" sz="1200" dirty="0"/>
              <a:t>      &lt;/div&gt;</a:t>
            </a:r>
          </a:p>
          <a:p>
            <a:r>
              <a:rPr kumimoji="1" lang="ja-JP" altLang="en-US" sz="1200" dirty="0"/>
              <a:t>      </a:t>
            </a:r>
            <a:r>
              <a:rPr kumimoji="1" lang="en-US" altLang="ja-JP" sz="1200" dirty="0"/>
              <a:t>&lt;div class="</a:t>
            </a:r>
            <a:r>
              <a:rPr kumimoji="1" lang="en-US" altLang="ja-JP" sz="1200" dirty="0" err="1"/>
              <a:t>bg</a:t>
            </a:r>
            <a:r>
              <a:rPr kumimoji="1" lang="en-US" altLang="ja-JP" sz="1200" dirty="0"/>
              <a:t>-white p-4 border rounded shadow"&gt;</a:t>
            </a:r>
          </a:p>
          <a:p>
            <a:r>
              <a:rPr kumimoji="1" lang="en-US" altLang="ja-JP" sz="1200" dirty="0"/>
              <a:t>        &lt;h2 class="text-xl font-bold mb-2"&gt;</a:t>
            </a:r>
            <a:r>
              <a:rPr kumimoji="1" lang="ja-JP" altLang="en-US" sz="1200" dirty="0"/>
              <a:t>もうひとつのカード</a:t>
            </a:r>
            <a:r>
              <a:rPr kumimoji="1" lang="en-US" altLang="ja-JP" sz="1200" dirty="0"/>
              <a:t>&lt;/h2&gt;</a:t>
            </a:r>
          </a:p>
          <a:p>
            <a:r>
              <a:rPr kumimoji="1" lang="en-US" altLang="ja-JP" sz="1200" dirty="0"/>
              <a:t>        &lt;p class="text-gray-700"&gt;</a:t>
            </a:r>
            <a:r>
              <a:rPr kumimoji="1" lang="ja-JP" altLang="en-US" sz="1200" dirty="0"/>
              <a:t>このレイアウトは </a:t>
            </a:r>
            <a:r>
              <a:rPr kumimoji="1" lang="en-US" altLang="ja-JP" sz="1200" dirty="0"/>
              <a:t>&lt;code&gt;grid&lt;/code&gt; </a:t>
            </a:r>
            <a:r>
              <a:rPr kumimoji="1" lang="ja-JP" altLang="en-US" sz="1200" dirty="0"/>
              <a:t>を使って横並びになります（</a:t>
            </a:r>
            <a:r>
              <a:rPr kumimoji="1" lang="en-US" altLang="ja-JP" sz="1200" dirty="0"/>
              <a:t>md</a:t>
            </a:r>
            <a:r>
              <a:rPr kumimoji="1" lang="ja-JP" altLang="en-US" sz="1200" dirty="0"/>
              <a:t>以上）。</a:t>
            </a:r>
            <a:r>
              <a:rPr kumimoji="1" lang="en-US" altLang="ja-JP" sz="1200" dirty="0"/>
              <a:t>&lt;/p&gt;</a:t>
            </a:r>
          </a:p>
          <a:p>
            <a:r>
              <a:rPr kumimoji="1" lang="en-US" altLang="ja-JP" sz="1200" dirty="0"/>
              <a:t>      &lt;/div&gt;</a:t>
            </a:r>
          </a:p>
          <a:p>
            <a:r>
              <a:rPr kumimoji="1" lang="en-US" altLang="ja-JP" sz="1200" dirty="0"/>
              <a:t>    &lt;/div&gt;</a:t>
            </a:r>
          </a:p>
          <a:p>
            <a:r>
              <a:rPr kumimoji="1" lang="en-US" altLang="ja-JP" sz="1200" dirty="0"/>
              <a:t>  &lt;/div&gt;</a:t>
            </a:r>
          </a:p>
          <a:p>
            <a:r>
              <a:rPr kumimoji="1" lang="en-US" altLang="ja-JP" sz="1200" dirty="0"/>
              <a:t>&lt;/body&gt;</a:t>
            </a:r>
            <a:endParaRPr kumimoji="1"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080611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71620-3E33-0137-0812-215D80E05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77FB3E5C-D462-A668-8F53-334B0E667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altLang="ja-JP" dirty="0"/>
              <a:t>Task1</a:t>
            </a:r>
            <a:r>
              <a:rPr lang="ja-JP" altLang="en-US" dirty="0"/>
              <a:t>：</a:t>
            </a:r>
            <a:r>
              <a:rPr lang="en-US" altLang="ja-JP" dirty="0"/>
              <a:t>Tailwind</a:t>
            </a:r>
            <a:br>
              <a:rPr lang="en-US" altLang="ja-JP" dirty="0"/>
            </a:br>
            <a:r>
              <a:rPr lang="ja-JP" altLang="en-US" dirty="0"/>
              <a:t>サンプルで使用しているクラス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57CE857-F089-AF9F-9C87-EE44235ED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905" y="1930400"/>
            <a:ext cx="8596668" cy="4802094"/>
          </a:xfrm>
        </p:spPr>
        <p:txBody>
          <a:bodyPr>
            <a:normAutofit/>
          </a:bodyPr>
          <a:lstStyle/>
          <a:p>
            <a:r>
              <a:rPr lang="ja-JP" altLang="en-US" dirty="0"/>
              <a:t>使用しているクラス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サイズ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ja-JP" altLang="en-US" dirty="0"/>
          </a:p>
          <a:p>
            <a:pPr lvl="3"/>
            <a:endParaRPr lang="en-US" altLang="ja-JP" dirty="0"/>
          </a:p>
          <a:p>
            <a:pPr lvl="3"/>
            <a:endParaRPr lang="en-US" altLang="ja-JP" dirty="0"/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7346C4E7-68E9-6E02-0955-C99AF2B06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304203"/>
              </p:ext>
            </p:extLst>
          </p:nvPr>
        </p:nvGraphicFramePr>
        <p:xfrm>
          <a:off x="1333502" y="2232660"/>
          <a:ext cx="7670071" cy="2756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6523">
                  <a:extLst>
                    <a:ext uri="{9D8B030D-6E8A-4147-A177-3AD203B41FA5}">
                      <a16:colId xmlns:a16="http://schemas.microsoft.com/office/drawing/2014/main" val="125698372"/>
                    </a:ext>
                  </a:extLst>
                </a:gridCol>
                <a:gridCol w="5453548">
                  <a:extLst>
                    <a:ext uri="{9D8B030D-6E8A-4147-A177-3AD203B41FA5}">
                      <a16:colId xmlns:a16="http://schemas.microsoft.com/office/drawing/2014/main" val="23962089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クラス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説明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991405"/>
                  </a:ext>
                </a:extLst>
              </a:tr>
              <a:tr h="49827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kumimoji="1"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p-8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kumimoji="1"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body </a:t>
                      </a:r>
                      <a:r>
                        <a:rPr kumimoji="1" lang="ja-JP" alt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に上下左右</a:t>
                      </a:r>
                      <a:r>
                        <a:rPr kumimoji="1" lang="en-US" altLang="ja-JP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  <a:r>
                        <a:rPr kumimoji="1"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px</a:t>
                      </a:r>
                      <a:r>
                        <a:rPr kumimoji="1" lang="ja-JP" alt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の余白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25310222"/>
                  </a:ext>
                </a:extLst>
              </a:tr>
              <a:tr h="49827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kumimoji="1"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bg-gray-100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kumimoji="1" lang="ja-JP" alt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薄いグレーの背景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528893"/>
                  </a:ext>
                </a:extLst>
              </a:tr>
              <a:tr h="49827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kumimoji="1"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max-w-screen-md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kumimoji="1" lang="ja-JP" alt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中サイズの幅で制限（中央）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66413376"/>
                  </a:ext>
                </a:extLst>
              </a:tr>
              <a:tr h="49827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kumimoji="1"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mx-auto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kumimoji="1" lang="ja-JP" alt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横方向中央揃え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35638997"/>
                  </a:ext>
                </a:extLst>
              </a:tr>
              <a:tr h="49827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kumimoji="1"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grid, grid-cols-1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kumimoji="1" lang="ja-JP" alt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グリッド表示で</a:t>
                      </a:r>
                      <a:r>
                        <a:rPr kumimoji="1" lang="en-US" altLang="ja-JP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1" lang="ja-JP" alt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列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3274641"/>
                  </a:ext>
                </a:extLst>
              </a:tr>
              <a:tr h="49827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kumimoji="1"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md:grid-cols-2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kumimoji="1" lang="ja-JP" alt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幅が中以上で</a:t>
                      </a:r>
                      <a:r>
                        <a:rPr kumimoji="1" lang="en-US" altLang="ja-JP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ja-JP" alt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列に変化（レスポンシブ）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79924179"/>
                  </a:ext>
                </a:extLst>
              </a:tr>
              <a:tr h="49827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kumimoji="1"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gap-4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kumimoji="1" lang="ja-JP" alt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グリッド要素間の余白</a:t>
                      </a:r>
                      <a:r>
                        <a:rPr kumimoji="1" lang="en-US" altLang="ja-JP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16px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10938011"/>
                  </a:ext>
                </a:extLst>
              </a:tr>
              <a:tr h="49827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kumimoji="1"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bg</a:t>
                      </a:r>
                      <a:r>
                        <a:rPr kumimoji="1"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-white, p-4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kumimoji="1" lang="ja-JP" alt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白背景＋内側</a:t>
                      </a:r>
                      <a:r>
                        <a:rPr kumimoji="1" lang="en-US" altLang="ja-JP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r>
                        <a:rPr kumimoji="1"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px</a:t>
                      </a:r>
                      <a:r>
                        <a:rPr kumimoji="1" lang="ja-JP" alt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余白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1218042"/>
                  </a:ext>
                </a:extLst>
              </a:tr>
              <a:tr h="49827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kumimoji="1"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text-xl, font-bold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kumimoji="1" lang="ja-JP" alt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太字＋やや大きめテキスト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3241580"/>
                  </a:ext>
                </a:extLst>
              </a:tr>
              <a:tr h="49827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kumimoji="1"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text-center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kumimoji="1" lang="ja-JP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中央揃え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35644650"/>
                  </a:ext>
                </a:extLst>
              </a:tr>
              <a:tr h="49827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kumimoji="1"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text-gray-700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kumimoji="1" lang="ja-JP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やや濃いグレー文字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47665265"/>
                  </a:ext>
                </a:extLst>
              </a:tr>
            </a:tbl>
          </a:graphicData>
        </a:graphic>
      </p:graphicFrame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A7F8A2C3-A918-E3A6-47A0-B10D08F7C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49249"/>
              </p:ext>
            </p:extLst>
          </p:nvPr>
        </p:nvGraphicFramePr>
        <p:xfrm>
          <a:off x="1333501" y="5456518"/>
          <a:ext cx="7670071" cy="1196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6523">
                  <a:extLst>
                    <a:ext uri="{9D8B030D-6E8A-4147-A177-3AD203B41FA5}">
                      <a16:colId xmlns:a16="http://schemas.microsoft.com/office/drawing/2014/main" val="125698372"/>
                    </a:ext>
                  </a:extLst>
                </a:gridCol>
                <a:gridCol w="5453548">
                  <a:extLst>
                    <a:ext uri="{9D8B030D-6E8A-4147-A177-3AD203B41FA5}">
                      <a16:colId xmlns:a16="http://schemas.microsoft.com/office/drawing/2014/main" val="23962089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クラス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説明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991405"/>
                  </a:ext>
                </a:extLst>
              </a:tr>
              <a:tr h="49827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kumimoji="1"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max-w-screen-</a:t>
                      </a:r>
                      <a:r>
                        <a:rPr kumimoji="1"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sm</a:t>
                      </a:r>
                      <a:endParaRPr kumimoji="1"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kumimoji="1"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640px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25310222"/>
                  </a:ext>
                </a:extLst>
              </a:tr>
              <a:tr h="49827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kumimoji="1"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max-w-screen-md</a:t>
                      </a:r>
                      <a:endParaRPr kumimoji="1" lang="ja-JP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kumimoji="1"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768px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528893"/>
                  </a:ext>
                </a:extLst>
              </a:tr>
              <a:tr h="49827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kumimoji="1"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max-w-screen-lg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kumimoji="1"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1024px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66413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kumimoji="1"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max-w-screen-xl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kumimoji="1"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1280px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35638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4634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71620-3E33-0137-0812-215D80E05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77FB3E5C-D462-A668-8F53-334B0E667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altLang="ja-JP" dirty="0"/>
              <a:t>Task1</a:t>
            </a:r>
            <a:r>
              <a:rPr lang="ja-JP" altLang="en-US" dirty="0"/>
              <a:t>：</a:t>
            </a:r>
            <a:r>
              <a:rPr lang="en-US" altLang="ja-JP" dirty="0"/>
              <a:t>Tailwind</a:t>
            </a:r>
            <a:br>
              <a:rPr lang="en-US" altLang="ja-JP" dirty="0"/>
            </a:br>
            <a:r>
              <a:rPr lang="ja-JP" altLang="en-US" dirty="0"/>
              <a:t>レスポンシブ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57CE857-F089-AF9F-9C87-EE44235ED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905" y="1930400"/>
            <a:ext cx="8596668" cy="4802094"/>
          </a:xfrm>
        </p:spPr>
        <p:txBody>
          <a:bodyPr>
            <a:normAutofit/>
          </a:bodyPr>
          <a:lstStyle/>
          <a:p>
            <a:r>
              <a:rPr lang="ja-JP" altLang="en-US" dirty="0"/>
              <a:t>プレフィックス</a:t>
            </a:r>
            <a:endParaRPr lang="en-US" altLang="ja-JP" dirty="0"/>
          </a:p>
          <a:p>
            <a:pPr lvl="1"/>
            <a:r>
              <a:rPr lang="en-US" altLang="ja-JP" dirty="0"/>
              <a:t>Tailwind</a:t>
            </a:r>
            <a:r>
              <a:rPr lang="ja-JP" altLang="en-US" dirty="0"/>
              <a:t>では、画面幅に応じてスタイルを切り替えるために、次のようなレスポンシブプレフィックスを使います。</a:t>
            </a:r>
            <a:endParaRPr lang="en-US" altLang="ja-JP" dirty="0"/>
          </a:p>
          <a:p>
            <a:pPr lvl="1"/>
            <a:endParaRPr lang="en-US" altLang="ja-JP" dirty="0"/>
          </a:p>
          <a:p>
            <a:pPr marL="457200" lvl="1" indent="0">
              <a:buNone/>
            </a:pPr>
            <a:endParaRPr lang="en-US" altLang="ja-JP" dirty="0"/>
          </a:p>
          <a:p>
            <a:pPr lvl="2"/>
            <a:r>
              <a:rPr lang="ja-JP" altLang="en-US" dirty="0"/>
              <a:t>画面が小さいとき → </a:t>
            </a:r>
            <a:r>
              <a:rPr lang="en-US" altLang="ja-JP" dirty="0"/>
              <a:t>text-</a:t>
            </a:r>
            <a:r>
              <a:rPr lang="en-US" altLang="ja-JP" dirty="0" err="1"/>
              <a:t>sm</a:t>
            </a:r>
            <a:r>
              <a:rPr lang="ja-JP" altLang="en-US" dirty="0"/>
              <a:t>（小さめ）</a:t>
            </a:r>
            <a:endParaRPr lang="en-US" altLang="ja-JP" dirty="0"/>
          </a:p>
          <a:p>
            <a:pPr lvl="2"/>
            <a:r>
              <a:rPr lang="en-US" altLang="ja-JP" dirty="0"/>
              <a:t>md</a:t>
            </a:r>
            <a:r>
              <a:rPr lang="ja-JP" altLang="en-US" dirty="0"/>
              <a:t>以上の画面幅 → </a:t>
            </a:r>
            <a:r>
              <a:rPr lang="en-US" altLang="ja-JP" dirty="0"/>
              <a:t>text-lg</a:t>
            </a:r>
            <a:r>
              <a:rPr lang="ja-JP" altLang="en-US" dirty="0"/>
              <a:t>（大きめ）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ja-JP" altLang="en-US" dirty="0"/>
          </a:p>
          <a:p>
            <a:pPr lvl="3"/>
            <a:endParaRPr lang="en-US" altLang="ja-JP" dirty="0"/>
          </a:p>
          <a:p>
            <a:pPr lvl="3"/>
            <a:endParaRPr lang="en-US" altLang="ja-JP" dirty="0"/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7346C4E7-68E9-6E02-0955-C99AF2B06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314383"/>
              </p:ext>
            </p:extLst>
          </p:nvPr>
        </p:nvGraphicFramePr>
        <p:xfrm>
          <a:off x="1058604" y="4685740"/>
          <a:ext cx="7944969" cy="1724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9650">
                  <a:extLst>
                    <a:ext uri="{9D8B030D-6E8A-4147-A177-3AD203B41FA5}">
                      <a16:colId xmlns:a16="http://schemas.microsoft.com/office/drawing/2014/main" val="125698372"/>
                    </a:ext>
                  </a:extLst>
                </a:gridCol>
                <a:gridCol w="2713770">
                  <a:extLst>
                    <a:ext uri="{9D8B030D-6E8A-4147-A177-3AD203B41FA5}">
                      <a16:colId xmlns:a16="http://schemas.microsoft.com/office/drawing/2014/main" val="2396208966"/>
                    </a:ext>
                  </a:extLst>
                </a:gridCol>
                <a:gridCol w="3301549">
                  <a:extLst>
                    <a:ext uri="{9D8B030D-6E8A-4147-A177-3AD203B41FA5}">
                      <a16:colId xmlns:a16="http://schemas.microsoft.com/office/drawing/2014/main" val="427322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プレフィックス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適用される画面幅（最小値）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991405"/>
                  </a:ext>
                </a:extLst>
              </a:tr>
              <a:tr h="49827"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 err="1"/>
                        <a:t>sm</a:t>
                      </a:r>
                      <a:r>
                        <a:rPr lang="en-US" dirty="0"/>
                        <a:t>: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/>
                        <a:t>640px </a:t>
                      </a:r>
                      <a:r>
                        <a:rPr lang="ja-JP" altLang="en-US"/>
                        <a:t>以上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/>
                        <a:t>sm:text-base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25310222"/>
                  </a:ext>
                </a:extLst>
              </a:tr>
              <a:tr h="49827"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/>
                        <a:t>md: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/>
                        <a:t>768px </a:t>
                      </a:r>
                      <a:r>
                        <a:rPr lang="ja-JP" altLang="en-US"/>
                        <a:t>以上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/>
                        <a:t>md:flex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528893"/>
                  </a:ext>
                </a:extLst>
              </a:tr>
              <a:tr h="49827"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/>
                        <a:t>lg: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/>
                        <a:t>1024px </a:t>
                      </a:r>
                      <a:r>
                        <a:rPr lang="ja-JP" altLang="en-US"/>
                        <a:t>以上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/>
                        <a:t>lg:grid-cols-3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66413376"/>
                  </a:ext>
                </a:extLst>
              </a:tr>
              <a:tr h="49827"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/>
                        <a:t>xl: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/>
                        <a:t>1280px </a:t>
                      </a:r>
                      <a:r>
                        <a:rPr lang="ja-JP" altLang="en-US"/>
                        <a:t>以上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/>
                        <a:t>xl:text-xl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35638997"/>
                  </a:ext>
                </a:extLst>
              </a:tr>
              <a:tr h="49827"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/>
                        <a:t>2xl: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/>
                        <a:t>1536px </a:t>
                      </a:r>
                      <a:r>
                        <a:rPr lang="ja-JP" altLang="en-US"/>
                        <a:t>以上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dirty="0"/>
                        <a:t>2xl:py-10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3274641"/>
                  </a:ext>
                </a:extLst>
              </a:tr>
            </a:tbl>
          </a:graphicData>
        </a:graphic>
      </p:graphicFrame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E07C76D4-F258-D2D3-B752-D4183BC21D07}"/>
              </a:ext>
            </a:extLst>
          </p:cNvPr>
          <p:cNvSpPr/>
          <p:nvPr/>
        </p:nvSpPr>
        <p:spPr>
          <a:xfrm>
            <a:off x="1792942" y="2991970"/>
            <a:ext cx="6633882" cy="518459"/>
          </a:xfrm>
          <a:prstGeom prst="roundRect">
            <a:avLst>
              <a:gd name="adj" fmla="val 10063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&lt;p class="text-</a:t>
            </a:r>
            <a:r>
              <a:rPr kumimoji="1" lang="en-US" altLang="ja-JP" dirty="0" err="1">
                <a:solidFill>
                  <a:schemeClr val="tx1"/>
                </a:solidFill>
              </a:rPr>
              <a:t>sm</a:t>
            </a:r>
            <a:r>
              <a:rPr kumimoji="1" lang="en-US" altLang="ja-JP" dirty="0">
                <a:solidFill>
                  <a:schemeClr val="tx1"/>
                </a:solidFill>
              </a:rPr>
              <a:t> </a:t>
            </a:r>
            <a:r>
              <a:rPr kumimoji="1" lang="en-US" altLang="ja-JP" dirty="0" err="1">
                <a:solidFill>
                  <a:schemeClr val="tx1"/>
                </a:solidFill>
              </a:rPr>
              <a:t>md:text-lg</a:t>
            </a:r>
            <a:r>
              <a:rPr kumimoji="1" lang="en-US" altLang="ja-JP" dirty="0">
                <a:solidFill>
                  <a:schemeClr val="tx1"/>
                </a:solidFill>
              </a:rPr>
              <a:t>"&gt;</a:t>
            </a:r>
            <a:r>
              <a:rPr kumimoji="1" lang="ja-JP" altLang="en-US" dirty="0">
                <a:solidFill>
                  <a:schemeClr val="tx1"/>
                </a:solidFill>
              </a:rPr>
              <a:t>こんにちは</a:t>
            </a:r>
            <a:r>
              <a:rPr kumimoji="1" lang="en-US" altLang="ja-JP" dirty="0">
                <a:solidFill>
                  <a:schemeClr val="tx1"/>
                </a:solidFill>
              </a:rPr>
              <a:t>&lt;/p&gt;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7752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71786F5D-C130-4C0D-A6CD-2DAC2DB80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altLang="ja-JP" dirty="0"/>
              <a:t>Task2</a:t>
            </a:r>
            <a:r>
              <a:rPr lang="ja-JP" altLang="en-US" dirty="0"/>
              <a:t>：アニメーション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8CF9E77-6BF6-B3E9-C24D-231BD4D58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905" y="1247775"/>
            <a:ext cx="8596668" cy="5610225"/>
          </a:xfrm>
        </p:spPr>
        <p:txBody>
          <a:bodyPr>
            <a:normAutofit lnSpcReduction="10000"/>
          </a:bodyPr>
          <a:lstStyle/>
          <a:p>
            <a:r>
              <a:rPr lang="en-US" altLang="ja-JP" dirty="0"/>
              <a:t>CSS </a:t>
            </a:r>
            <a:r>
              <a:rPr lang="ja-JP" altLang="en-US" dirty="0"/>
              <a:t>画像 文字 重ねる</a:t>
            </a:r>
            <a:endParaRPr lang="en-US" altLang="ja-JP" dirty="0"/>
          </a:p>
          <a:p>
            <a:pPr lvl="1"/>
            <a:r>
              <a:rPr lang="en-US" altLang="ja-JP" dirty="0"/>
              <a:t>【CSS】</a:t>
            </a:r>
            <a:r>
              <a:rPr lang="ja-JP" altLang="en-US" dirty="0"/>
              <a:t>画像の上に文字や画像、イラストなどを重ねる</a:t>
            </a:r>
            <a:endParaRPr lang="en-US" altLang="ja-JP" dirty="0"/>
          </a:p>
          <a:p>
            <a:pPr lvl="2"/>
            <a:r>
              <a:rPr lang="en-US" altLang="ja-JP" dirty="0">
                <a:hlinkClick r:id="rId2"/>
              </a:rPr>
              <a:t>https://dominantmotion.com/design/html-css/image-text/</a:t>
            </a:r>
            <a:endParaRPr lang="en-US" altLang="ja-JP" dirty="0"/>
          </a:p>
          <a:p>
            <a:pPr lvl="1"/>
            <a:r>
              <a:rPr lang="en-US" altLang="ja-JP" dirty="0"/>
              <a:t>【HTML】</a:t>
            </a:r>
            <a:r>
              <a:rPr lang="ja-JP" altLang="en-US" dirty="0"/>
              <a:t>画像の上に文字を表示する方法について徹底解説！</a:t>
            </a:r>
            <a:endParaRPr lang="en-US" altLang="ja-JP" dirty="0"/>
          </a:p>
          <a:p>
            <a:pPr lvl="2"/>
            <a:r>
              <a:rPr lang="en-US" altLang="ja-JP" dirty="0">
                <a:hlinkClick r:id="rId3"/>
              </a:rPr>
              <a:t>https://web-camp.io/magazine/archives/94984</a:t>
            </a:r>
            <a:endParaRPr lang="en-US" altLang="ja-JP" dirty="0"/>
          </a:p>
          <a:p>
            <a:r>
              <a:rPr lang="en-US" altLang="ja-JP" dirty="0"/>
              <a:t>position relative absolute</a:t>
            </a:r>
          </a:p>
          <a:p>
            <a:pPr lvl="1"/>
            <a:r>
              <a:rPr lang="en-US" altLang="ja-JP" dirty="0"/>
              <a:t>【</a:t>
            </a:r>
            <a:r>
              <a:rPr lang="en-US" altLang="ja-JP" dirty="0" err="1"/>
              <a:t>CSS】position</a:t>
            </a:r>
            <a:r>
              <a:rPr lang="ja-JP" altLang="en-US" dirty="0"/>
              <a:t>の</a:t>
            </a:r>
            <a:r>
              <a:rPr lang="en-US" altLang="ja-JP" dirty="0"/>
              <a:t>relative</a:t>
            </a:r>
            <a:r>
              <a:rPr lang="ja-JP" altLang="en-US" dirty="0"/>
              <a:t>と</a:t>
            </a:r>
            <a:r>
              <a:rPr lang="en-US" altLang="ja-JP" dirty="0"/>
              <a:t>absolute</a:t>
            </a:r>
            <a:r>
              <a:rPr lang="ja-JP" altLang="en-US" dirty="0"/>
              <a:t>の使い方と具体例を解説</a:t>
            </a:r>
            <a:endParaRPr lang="en-US" altLang="ja-JP" dirty="0"/>
          </a:p>
          <a:p>
            <a:pPr lvl="2"/>
            <a:r>
              <a:rPr lang="en-US" altLang="ja-JP" dirty="0">
                <a:hlinkClick r:id="rId4"/>
              </a:rPr>
              <a:t>https://zero-plus.io/media/css-position-absolute/</a:t>
            </a:r>
            <a:endParaRPr lang="en-US" altLang="ja-JP" dirty="0"/>
          </a:p>
          <a:p>
            <a:pPr lvl="1"/>
            <a:r>
              <a:rPr lang="en-US" altLang="ja-JP" dirty="0"/>
              <a:t>CSS</a:t>
            </a:r>
            <a:r>
              <a:rPr lang="ja-JP" altLang="en-US" dirty="0"/>
              <a:t>の</a:t>
            </a:r>
            <a:r>
              <a:rPr lang="en-US" altLang="ja-JP" dirty="0"/>
              <a:t>position</a:t>
            </a:r>
            <a:r>
              <a:rPr lang="ja-JP" altLang="en-US" dirty="0"/>
              <a:t>を総まとめ！</a:t>
            </a:r>
            <a:r>
              <a:rPr lang="en-US" altLang="ja-JP" dirty="0"/>
              <a:t>absolute</a:t>
            </a:r>
            <a:r>
              <a:rPr lang="ja-JP" altLang="en-US" dirty="0"/>
              <a:t>や</a:t>
            </a:r>
            <a:r>
              <a:rPr lang="en-US" altLang="ja-JP" dirty="0"/>
              <a:t>fixed</a:t>
            </a:r>
            <a:r>
              <a:rPr lang="ja-JP" altLang="en-US" dirty="0"/>
              <a:t>の使い方は？</a:t>
            </a:r>
            <a:endParaRPr lang="en-US" altLang="ja-JP" dirty="0"/>
          </a:p>
          <a:p>
            <a:pPr lvl="2"/>
            <a:r>
              <a:rPr lang="en-US" altLang="ja-JP" dirty="0">
                <a:hlinkClick r:id="rId5"/>
              </a:rPr>
              <a:t>https://saruwakakun.com/html-css/basic/relative-absolute-fixed</a:t>
            </a:r>
            <a:endParaRPr lang="en-US" altLang="ja-JP" dirty="0"/>
          </a:p>
          <a:p>
            <a:r>
              <a:rPr lang="en-US" altLang="ja-JP" dirty="0"/>
              <a:t>CSS</a:t>
            </a:r>
            <a:r>
              <a:rPr lang="ja-JP" altLang="en-US" dirty="0"/>
              <a:t> 文字 中央</a:t>
            </a:r>
            <a:endParaRPr lang="en-US" altLang="ja-JP" dirty="0"/>
          </a:p>
          <a:p>
            <a:pPr lvl="1"/>
            <a:r>
              <a:rPr lang="en-US" altLang="ja-JP" dirty="0"/>
              <a:t>【CSS】</a:t>
            </a:r>
            <a:r>
              <a:rPr lang="ja-JP" altLang="en-US" dirty="0"/>
              <a:t>文字を上下左右中央に配置する方法いろいろ</a:t>
            </a:r>
            <a:endParaRPr lang="en-US" altLang="ja-JP" dirty="0"/>
          </a:p>
          <a:p>
            <a:pPr lvl="2"/>
            <a:r>
              <a:rPr lang="en-US" altLang="ja-JP" dirty="0">
                <a:hlinkClick r:id="rId6"/>
              </a:rPr>
              <a:t>https://note.com/shizuoka_kufu/n/n4158f5065b77</a:t>
            </a:r>
            <a:endParaRPr lang="en-US" altLang="ja-JP" dirty="0"/>
          </a:p>
          <a:p>
            <a:r>
              <a:rPr lang="en-US" altLang="ja-JP" dirty="0"/>
              <a:t>CSS </a:t>
            </a:r>
            <a:r>
              <a:rPr lang="ja-JP" altLang="en-US" dirty="0"/>
              <a:t>スライドショー</a:t>
            </a:r>
            <a:endParaRPr lang="en-US" altLang="ja-JP" dirty="0"/>
          </a:p>
          <a:p>
            <a:pPr lvl="1"/>
            <a:r>
              <a:rPr lang="en-US" altLang="ja-JP" dirty="0"/>
              <a:t>HTML5</a:t>
            </a:r>
            <a:r>
              <a:rPr lang="ja-JP" altLang="en-US" dirty="0"/>
              <a:t>と</a:t>
            </a:r>
            <a:r>
              <a:rPr lang="en-US" altLang="ja-JP" dirty="0"/>
              <a:t>CSS3</a:t>
            </a:r>
            <a:r>
              <a:rPr lang="ja-JP" altLang="en-US" dirty="0"/>
              <a:t>で実現出来るサンプルです</a:t>
            </a:r>
            <a:endParaRPr lang="en-US" altLang="ja-JP" dirty="0"/>
          </a:p>
          <a:p>
            <a:pPr lvl="2"/>
            <a:r>
              <a:rPr lang="en-US" altLang="ja-JP" dirty="0">
                <a:hlinkClick r:id="rId7"/>
              </a:rPr>
              <a:t>https://web-design.kyoto.jp/sample_slide.html</a:t>
            </a:r>
            <a:endParaRPr lang="en-US" altLang="ja-JP" dirty="0"/>
          </a:p>
          <a:p>
            <a:pPr lvl="1"/>
            <a:endParaRPr lang="en-US" altLang="ja-JP" dirty="0"/>
          </a:p>
          <a:p>
            <a:pPr lvl="2"/>
            <a:endParaRPr lang="en-US" altLang="ja-JP" dirty="0"/>
          </a:p>
          <a:p>
            <a:pPr lvl="1"/>
            <a:endParaRPr lang="ja-JP" altLang="en-US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154E060-90FB-A2B4-2244-E801863E13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4387" y="1930400"/>
            <a:ext cx="5164969" cy="2067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297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71786F5D-C130-4C0D-A6CD-2DAC2DB80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altLang="ja-JP" dirty="0"/>
              <a:t>Task3</a:t>
            </a:r>
            <a:r>
              <a:rPr lang="ja-JP" altLang="en-US" dirty="0"/>
              <a:t>：レスポンシブデザイン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8CF9E77-6BF6-B3E9-C24D-231BD4D58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905" y="1930400"/>
            <a:ext cx="8596668" cy="3880773"/>
          </a:xfrm>
        </p:spPr>
        <p:txBody>
          <a:bodyPr/>
          <a:lstStyle/>
          <a:p>
            <a:r>
              <a:rPr lang="en-US" altLang="ja-JP" dirty="0" err="1"/>
              <a:t>css</a:t>
            </a:r>
            <a:r>
              <a:rPr lang="en-US" altLang="ja-JP" dirty="0"/>
              <a:t> grid </a:t>
            </a:r>
            <a:r>
              <a:rPr lang="ja-JP" altLang="en-US" dirty="0"/>
              <a:t>レスポンシブ</a:t>
            </a:r>
            <a:endParaRPr lang="en-US" altLang="ja-JP" dirty="0"/>
          </a:p>
          <a:p>
            <a:pPr lvl="1"/>
            <a:r>
              <a:rPr lang="en-US" altLang="ja-JP" dirty="0"/>
              <a:t>CSS Grid</a:t>
            </a:r>
            <a:r>
              <a:rPr lang="ja-JP" altLang="en-US" dirty="0"/>
              <a:t>を使ったレスポンシブ対応の基本レイアウト</a:t>
            </a:r>
            <a:endParaRPr lang="en-US" altLang="ja-JP" dirty="0"/>
          </a:p>
          <a:p>
            <a:pPr lvl="2"/>
            <a:r>
              <a:rPr lang="en-US" altLang="ja-JP" dirty="0">
                <a:hlinkClick r:id="rId2"/>
              </a:rPr>
              <a:t>https://www.webcreatorbox.com/tech/css-grid-basic-layout</a:t>
            </a:r>
            <a:endParaRPr lang="en-US" altLang="ja-JP" dirty="0"/>
          </a:p>
          <a:p>
            <a:r>
              <a:rPr lang="en-US" altLang="ja-JP" dirty="0"/>
              <a:t>CSS</a:t>
            </a:r>
            <a:r>
              <a:rPr lang="ja-JP" altLang="en-US" dirty="0"/>
              <a:t> ボトムナビゲーション</a:t>
            </a:r>
            <a:endParaRPr lang="en-US" altLang="ja-JP" dirty="0"/>
          </a:p>
          <a:p>
            <a:pPr lvl="1"/>
            <a:r>
              <a:rPr lang="ja-JP" altLang="en-US" dirty="0"/>
              <a:t>今回は</a:t>
            </a:r>
            <a:r>
              <a:rPr lang="en-US" altLang="ja-JP" dirty="0"/>
              <a:t>grid</a:t>
            </a:r>
            <a:r>
              <a:rPr lang="ja-JP" altLang="en-US" dirty="0"/>
              <a:t>で作ってみる</a:t>
            </a:r>
            <a:endParaRPr lang="en-US" altLang="ja-JP" dirty="0"/>
          </a:p>
          <a:p>
            <a:pPr lvl="1"/>
            <a:r>
              <a:rPr lang="ja-JP" altLang="en-US" dirty="0"/>
              <a:t>場所の固定は</a:t>
            </a:r>
            <a:r>
              <a:rPr lang="en-US" altLang="ja-JP" dirty="0"/>
              <a:t>position: fixed</a:t>
            </a:r>
            <a:r>
              <a:rPr lang="ja-JP" altLang="en-US" dirty="0"/>
              <a:t>、</a:t>
            </a:r>
            <a:r>
              <a:rPr lang="en-US" altLang="ja-JP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/>
              </a:rPr>
              <a:t>left</a:t>
            </a:r>
            <a:r>
              <a:rPr lang="ja-JP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/>
              </a:rPr>
              <a:t>と</a:t>
            </a:r>
            <a:r>
              <a:rPr lang="en-US" altLang="ja-JP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/>
              </a:rPr>
              <a:t>bottom</a:t>
            </a:r>
            <a:r>
              <a:rPr lang="ja-JP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/>
              </a:rPr>
              <a:t>を</a:t>
            </a:r>
            <a:r>
              <a:rPr lang="en-US" altLang="ja-JP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/>
              </a:rPr>
              <a:t>0</a:t>
            </a:r>
            <a:r>
              <a:rPr lang="ja-JP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/>
              </a:rPr>
              <a:t>で</a:t>
            </a:r>
            <a:endParaRPr lang="en-US" altLang="ja-JP" dirty="0"/>
          </a:p>
          <a:p>
            <a:pPr lvl="1"/>
            <a:endParaRPr lang="en-US" altLang="ja-JP" dirty="0"/>
          </a:p>
          <a:p>
            <a:pPr lvl="2"/>
            <a:endParaRPr lang="ja-JP" altLang="en-US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6005589-5733-E30C-D509-E6C2EFCA8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066" y="1046827"/>
            <a:ext cx="2716634" cy="549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68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71786F5D-C130-4C0D-A6CD-2DAC2DB80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altLang="ja-JP" dirty="0"/>
              <a:t>Task4</a:t>
            </a:r>
            <a:r>
              <a:rPr lang="ja-JP" altLang="en-US" dirty="0"/>
              <a:t>：ハンバーガーメニュー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8CF9E77-6BF6-B3E9-C24D-231BD4D58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905" y="1930400"/>
            <a:ext cx="8596668" cy="3880773"/>
          </a:xfrm>
        </p:spPr>
        <p:txBody>
          <a:bodyPr/>
          <a:lstStyle/>
          <a:p>
            <a:r>
              <a:rPr lang="en-US" altLang="ja-JP" dirty="0"/>
              <a:t>CSS JavaScript </a:t>
            </a:r>
            <a:r>
              <a:rPr lang="ja-JP" altLang="en-US" dirty="0"/>
              <a:t>ハンバーガーメニュー</a:t>
            </a:r>
            <a:endParaRPr lang="en-US" altLang="ja-JP" dirty="0"/>
          </a:p>
          <a:p>
            <a:pPr lvl="1"/>
            <a:r>
              <a:rPr lang="en-US" altLang="ja-JP" dirty="0"/>
              <a:t>CSS</a:t>
            </a:r>
            <a:r>
              <a:rPr lang="ja-JP" altLang="en-US" dirty="0"/>
              <a:t>と</a:t>
            </a:r>
            <a:r>
              <a:rPr lang="en-US" altLang="ja-JP" dirty="0" err="1"/>
              <a:t>Javascript</a:t>
            </a:r>
            <a:r>
              <a:rPr lang="ja-JP" altLang="en-US" dirty="0"/>
              <a:t>でハンバーガーメニューを実装しよう</a:t>
            </a:r>
            <a:r>
              <a:rPr lang="en-US" altLang="ja-JP" dirty="0"/>
              <a:t>!</a:t>
            </a:r>
          </a:p>
          <a:p>
            <a:pPr lvl="2"/>
            <a:r>
              <a:rPr lang="en-US" altLang="ja-JP" dirty="0">
                <a:hlinkClick r:id="rId2"/>
              </a:rPr>
              <a:t>https://global-web-design.com/1093/</a:t>
            </a:r>
            <a:endParaRPr lang="en-US" altLang="ja-JP" dirty="0"/>
          </a:p>
          <a:p>
            <a:pPr lvl="2"/>
            <a:endParaRPr lang="en-US" altLang="ja-JP" dirty="0"/>
          </a:p>
          <a:p>
            <a:pPr lvl="1"/>
            <a:endParaRPr lang="en-US" altLang="ja-JP" dirty="0"/>
          </a:p>
          <a:p>
            <a:pPr lvl="2"/>
            <a:endParaRPr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DAB5276-8D3E-A6DF-4D55-03547C1F1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545" y="3251200"/>
            <a:ext cx="2025914" cy="3470358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A8BEC94E-4BDE-859E-63E3-3EF653FEEF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6587" y="3251200"/>
            <a:ext cx="2025913" cy="336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850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71786F5D-C130-4C0D-A6CD-2DAC2DB80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altLang="ja-JP" dirty="0"/>
              <a:t>Task5</a:t>
            </a:r>
            <a:r>
              <a:rPr lang="ja-JP" altLang="en-US" dirty="0"/>
              <a:t>：テーブルデザイン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8CF9E77-6BF6-B3E9-C24D-231BD4D58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905" y="1930400"/>
            <a:ext cx="8596668" cy="3880773"/>
          </a:xfrm>
        </p:spPr>
        <p:txBody>
          <a:bodyPr/>
          <a:lstStyle/>
          <a:p>
            <a:r>
              <a:rPr lang="en-US" altLang="ja-JP" dirty="0" err="1"/>
              <a:t>css</a:t>
            </a:r>
            <a:r>
              <a:rPr lang="en-US" altLang="ja-JP" dirty="0"/>
              <a:t> </a:t>
            </a:r>
            <a:r>
              <a:rPr lang="ja-JP" altLang="en-US" dirty="0"/>
              <a:t>テーブル レスポンシブ 縦並び</a:t>
            </a:r>
            <a:endParaRPr lang="en-US" altLang="ja-JP" dirty="0"/>
          </a:p>
          <a:p>
            <a:pPr lvl="1"/>
            <a:r>
              <a:rPr lang="ja-JP" altLang="en-US" dirty="0"/>
              <a:t>テーブルのレスポンシブ対応：スマホでセルを縦表示にする方法</a:t>
            </a:r>
            <a:endParaRPr lang="en-US" altLang="ja-JP" dirty="0"/>
          </a:p>
          <a:p>
            <a:pPr lvl="2"/>
            <a:r>
              <a:rPr lang="en-US" altLang="ja-JP" dirty="0">
                <a:hlinkClick r:id="rId2"/>
              </a:rPr>
              <a:t>https://pg.brain-studio.com/00/a-css-table-responsive.html</a:t>
            </a:r>
            <a:endParaRPr lang="en-US" altLang="ja-JP" dirty="0"/>
          </a:p>
          <a:p>
            <a:pPr lvl="2"/>
            <a:endParaRPr lang="en-US" altLang="ja-JP" dirty="0"/>
          </a:p>
          <a:p>
            <a:pPr lvl="1"/>
            <a:endParaRPr lang="en-US" altLang="ja-JP" dirty="0"/>
          </a:p>
          <a:p>
            <a:pPr lvl="2"/>
            <a:endParaRPr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A5F4338-D9A0-49C4-0B76-435F9E342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197" y="3402051"/>
            <a:ext cx="5763202" cy="217116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7F97D0E0-5708-2BFE-B8DD-A82FE8F268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298" y="2510963"/>
            <a:ext cx="2188734" cy="395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137431"/>
      </p:ext>
    </p:extLst>
  </p:cSld>
  <p:clrMapOvr>
    <a:masterClrMapping/>
  </p:clrMapOvr>
</p:sld>
</file>

<file path=ppt/theme/theme1.xml><?xml version="1.0" encoding="utf-8"?>
<a:theme xmlns:a="http://schemas.openxmlformats.org/drawingml/2006/main" name="ファセット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1943</TotalTime>
  <Words>1175</Words>
  <Application>Microsoft Office PowerPoint</Application>
  <PresentationFormat>ワイド画面</PresentationFormat>
  <Paragraphs>259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Helvetica Neue</vt:lpstr>
      <vt:lpstr>Arial</vt:lpstr>
      <vt:lpstr>Trebuchet MS</vt:lpstr>
      <vt:lpstr>Wingdings 3</vt:lpstr>
      <vt:lpstr>ファセット</vt:lpstr>
      <vt:lpstr>ITマスター ウェブデザイン</vt:lpstr>
      <vt:lpstr>今日の学習内容：HTMLとCSS</vt:lpstr>
      <vt:lpstr>第20回 ウェブデザイン技能競技会 競技課題</vt:lpstr>
      <vt:lpstr>Task1：レイアウト制作</vt:lpstr>
      <vt:lpstr>Task1：Tailwindフレームワーク</vt:lpstr>
      <vt:lpstr>Task1：Tailwind ユーティリティファーストCSSって？</vt:lpstr>
      <vt:lpstr>Task1：Tailwind 基本のユーティリティクラス例</vt:lpstr>
      <vt:lpstr>Task1：Tailwind レイアウト</vt:lpstr>
      <vt:lpstr>Task1：Tailwind サンプルで使用しているクラス</vt:lpstr>
      <vt:lpstr>Task1：Tailwind レスポンシブ</vt:lpstr>
      <vt:lpstr>Task2：アニメーション</vt:lpstr>
      <vt:lpstr>Task3：レスポンシブデザイン</vt:lpstr>
      <vt:lpstr>Task4：ハンバーガーメニュー</vt:lpstr>
      <vt:lpstr>Task5：テーブルデザイン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ITマスター ウェブデザイン</dc:title>
  <dc:creator>Sasamine</dc:creator>
  <cp:lastModifiedBy>T01</cp:lastModifiedBy>
  <cp:revision>51</cp:revision>
  <dcterms:created xsi:type="dcterms:W3CDTF">2021-12-16T02:14:34Z</dcterms:created>
  <dcterms:modified xsi:type="dcterms:W3CDTF">2025-08-01T00:07:11Z</dcterms:modified>
</cp:coreProperties>
</file>